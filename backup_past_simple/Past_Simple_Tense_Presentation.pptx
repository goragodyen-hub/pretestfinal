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6590" y="1463040"/>
            <a:ext cx="36576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ENGLISH GRAMMAR • GRADE 8 (ม.2)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Outfit"/>
              </a:defRPr>
            </a:pPr>
            <a:r>
              <a:t>Past Simple Tense</a:t>
            </a:r>
          </a:p>
          <a:p>
            <a:pPr algn="ctr">
              <a:spcBef>
                <a:spcPts val="1800"/>
              </a:spcBef>
              <a:defRPr sz="2000">
                <a:solidFill>
                  <a:srgbClr val="E0F2FE"/>
                </a:solidFill>
                <a:latin typeface="Sarabun"/>
              </a:defRPr>
            </a:pPr>
            <a:r>
              <a:t>สรุปหลักไวยากรณ์ กฎการสร้างประโยค และเทคนิคจำแม่นเพื่อการสื่อสารและทำข้อสอบ</a:t>
            </a:r>
          </a:p>
          <a:p>
            <a:pPr algn="ctr">
              <a:spcBef>
                <a:spcPts val="1400"/>
              </a:spcBef>
              <a:defRPr sz="1500">
                <a:solidFill>
                  <a:srgbClr val="BAE6FD"/>
                </a:solidFill>
                <a:latin typeface="Sarabun"/>
              </a:defRPr>
            </a:pPr>
            <a:r>
              <a:t>ฉบับคู่มือการสอนติวเข้มสำหรับลูก (Unit 5 &amp; Unit 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CORE CONCEPT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หัวใจหลักของ Past Simple Tense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1E3A8A"/>
                </a:solidFill>
                <a:latin typeface="Sarabun"/>
              </a:defRPr>
            </a:pPr>
            <a:r>
              <a:t>💡 ใช้เมื่อไหร่?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  <a:latin typeface="Sarabun"/>
              </a:defRPr>
            </a:pPr>
            <a:r>
              <a:t>ใช้กับเหตุการณ์หรือการกระทำที่ "เกิดขึ้นและจบสิ้นลงอย่างสมบูรณ์แล้วในอดีต" (ปัจจุบันไม่ได้ทำแล้ว)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Sarabun"/>
              </a:defRPr>
            </a:pPr>
            <a:r>
              <a:t>⏰ คำบอกเวลาที่พบบ่อย (Past Time Expressions)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542032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0284C7"/>
                </a:solidFill>
                <a:latin typeface="Outfit"/>
              </a:defRPr>
            </a:pPr>
            <a:r>
              <a:t>yesterday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เมื่อวานนี้</a:t>
            </a:r>
            <a:br/>
            <a:r>
              <a:t>(yesterday morning, yesterday afternoon)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749039"/>
            <a:ext cx="2542032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0284C7"/>
                </a:solidFill>
                <a:latin typeface="Outfit"/>
              </a:defRPr>
            </a:pPr>
            <a:r>
              <a:t>last + เวลา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...ที่แล้ว</a:t>
            </a:r>
            <a:br/>
            <a:r>
              <a:t>(last night, last week, last month, last year)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749039"/>
            <a:ext cx="2542032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0284C7"/>
                </a:solidFill>
                <a:latin typeface="Outfit"/>
              </a:defRPr>
            </a:pPr>
            <a:r>
              <a:t>ช่วงเวลา + ago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...ที่ผ่านมา</a:t>
            </a:r>
            <a:br/>
            <a:r>
              <a:t>(two hours ago, three days ago, a year ago)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3749039"/>
            <a:ext cx="2542032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0284C7"/>
                </a:solidFill>
                <a:latin typeface="Outfit"/>
              </a:defRPr>
            </a:pPr>
            <a:r>
              <a:t>in + ปีอดีต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ในปี...</a:t>
            </a:r>
            <a:br/>
            <a:r>
              <a:t>(in 2020, in the past, when I was young)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GRAMMAR RULES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โครงสร้างประโยค 3 รูปแบบ (+, -, 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16A34A"/>
                </a:solidFill>
                <a:latin typeface="Sarabun"/>
              </a:defRPr>
            </a:pPr>
            <a:r>
              <a:t>1. บอกเล่า (+)</a:t>
            </a:r>
          </a:p>
          <a:p>
            <a:pPr>
              <a:spcBef>
                <a:spcPts val="1200"/>
              </a:spcBef>
              <a:defRPr sz="1600" b="1">
                <a:solidFill>
                  <a:srgbClr val="16A34A"/>
                </a:solidFill>
                <a:latin typeface="Outfit"/>
              </a:defRPr>
            </a:pPr>
            <a:r>
              <a:t>  Subject + V.2  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ใช้กริยาช่องที่ 2 เสมอ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  <a:latin typeface="Sarabun"/>
              </a:defRPr>
            </a:pPr>
            <a:r>
              <a:t>ตัวอย่าง: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We played football yesterday.</a:t>
            </a:r>
            <a:br/>
            <a:r>
              <a:t>• He went to Japan last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64592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DC2626"/>
                </a:solidFill>
                <a:latin typeface="Sarabun"/>
              </a:defRPr>
            </a:pPr>
            <a:r>
              <a:t>2. ปฏิเสธ (-)</a:t>
            </a:r>
          </a:p>
          <a:p>
            <a:pPr>
              <a:spcBef>
                <a:spcPts val="1200"/>
              </a:spcBef>
              <a:defRPr sz="1600" b="1">
                <a:solidFill>
                  <a:srgbClr val="DC2626"/>
                </a:solidFill>
                <a:latin typeface="Outfit"/>
              </a:defRPr>
            </a:pPr>
            <a:r>
              <a:t>  S + didn't + V.inf  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ใช้ didn't แล้วคืนรูปกริยาเดิม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  <a:latin typeface="Sarabun"/>
              </a:defRPr>
            </a:pPr>
            <a:r>
              <a:t>ตัวอย่าง: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We didn't play football.</a:t>
            </a:r>
            <a:br/>
            <a:r>
              <a:t>• He didn't go to Japan.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5980" y="164592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0284C7"/>
                </a:solidFill>
                <a:latin typeface="Sarabun"/>
              </a:defRPr>
            </a:pPr>
            <a:r>
              <a:t>3. คำถาม (?)</a:t>
            </a:r>
          </a:p>
          <a:p>
            <a:pPr>
              <a:spcBef>
                <a:spcPts val="1200"/>
              </a:spcBef>
              <a:defRPr sz="1600" b="1">
                <a:solidFill>
                  <a:srgbClr val="0284C7"/>
                </a:solidFill>
                <a:latin typeface="Outfit"/>
              </a:defRPr>
            </a:pPr>
            <a:r>
              <a:t>  Did + S + V.inf ...?  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เอา Did ขึ้นหน้า กริยาใช้รูปเดิม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  <a:latin typeface="Sarabun"/>
              </a:defRPr>
            </a:pPr>
            <a:r>
              <a:t>ตัวอย่าง: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Did they play football?</a:t>
            </a:r>
            <a:br/>
            <a:r>
              <a:t>• Did he go to Japan?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REGULAR VERBS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กฎ 5 ข้อของการเติม -ed (Regular Verbs)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3230575"/>
              </a:tblGrid>
              <a:tr h="762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กฎการเติม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คำอธิบาย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ตัวอย่าง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1. เติม -ed ทั่วไป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กริยาส่วนใหญ่เติม -ed ได้ทันที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watch → watched</a:t>
                      </a:r>
                      <a:br/>
                      <a:r>
                        <a:t>clean → cleaned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2. ลงท้ายด้วย 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เติมเพียง -d ท้ายคำได้เลย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live → lived</a:t>
                      </a:r>
                      <a:br/>
                      <a:r>
                        <a:t>arrive → arrived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3. พยัญชนะ + 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เปลี่ยน y เป็น i แล้วเติม -ed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study → studied</a:t>
                      </a:r>
                      <a:br/>
                      <a:r>
                        <a:t>tidy → tidied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4. สระ + 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เติม -ed ได้ทันที (ห้ามเปลี่ยนรูป)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play → played</a:t>
                      </a:r>
                      <a:br/>
                      <a:r>
                        <a:t>stay → stayed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5. 1 สระ + 1 ตัวสะกด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เบิ้ลตัวสะกดท้ายอีก 1 ตัวก่อนเติม -ed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stop → stopped</a:t>
                      </a:r>
                      <a:br/>
                      <a:r>
                        <a:t>plan → planned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IRREGULAR VERBS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กริยาเปลี่ยนรูปยอดฮิต (ต้องจำให้แม่น)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Base (V.1)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Past (V.2)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ความหมาย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eat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กิน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bought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ซื้อ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go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went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ไป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see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saw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เห็น / พบ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have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had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มี / รับประทาน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4592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Base (V.1)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Past (V.2)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ความหมาย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make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made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ทำ / สร้าง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lose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lost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ทำหาย / แพ้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read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read (เรด)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อ่าน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write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wrote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เขียน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drink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drank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ดื่ม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COMMON TRAP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⚠️ กฎทอง "ถอดเครื่องแบบ" (จุดตายของข้อสอบ)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46304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92400E"/>
                </a:solidFill>
                <a:latin typeface="Sarabun"/>
              </a:defRPr>
            </a:pPr>
            <a:r>
              <a:t>เมื่อไหร่ที่มี Did หรือ didn't โผล่เข้ามาในประโยค...</a:t>
            </a:r>
          </a:p>
          <a:p>
            <a:pPr>
              <a:spcBef>
                <a:spcPts val="600"/>
              </a:spcBef>
              <a:defRPr sz="1500" b="1">
                <a:solidFill>
                  <a:srgbClr val="92400E"/>
                </a:solidFill>
                <a:latin typeface="Sarabun"/>
              </a:defRPr>
            </a:pPr>
            <a:r>
              <a:t>กริยาแท้ต้องถูก "ถอดรูปอดีตทิ้ง" แล้วกลับไปเป็น กริยาช่อง 1 ตัวเดิม (Base Form / V.inf) เสมอ!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212080" cy="292608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700" b="1">
                <a:solidFill>
                  <a:srgbClr val="DC2626"/>
                </a:solidFill>
                <a:latin typeface="Sarabun"/>
              </a:defRPr>
            </a:pPr>
            <a:r>
              <a:t>❌ สิ่งที่เด็กๆ ชอบผิด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  <a:latin typeface="Sarabun"/>
              </a:defRPr>
            </a:pPr>
            <a:r>
              <a:t>• He didn't went to school. ❌</a:t>
            </a:r>
            <a:br/>
            <a:r>
              <a:t>• Did you saw that cat? ❌</a:t>
            </a:r>
            <a:br/>
            <a:r>
              <a:t>• We didn't watched TV. 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3383280"/>
            <a:ext cx="5212080" cy="292608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700" b="1">
                <a:solidFill>
                  <a:srgbClr val="16A34A"/>
                </a:solidFill>
                <a:latin typeface="Sarabun"/>
              </a:defRPr>
            </a:pPr>
            <a:r>
              <a:t>✔️ ประโยคที่ถูกต้อง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  <a:latin typeface="Sarabun"/>
              </a:defRPr>
            </a:pPr>
            <a:r>
              <a:t>• He didn't go to school. ✔️</a:t>
            </a:r>
            <a:br/>
            <a:r>
              <a:t>• Did you see that cat? ✔️</a:t>
            </a:r>
            <a:br/>
            <a:r>
              <a:t>• We didn't watch TV. ✔️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SKILL BUILDING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สูตรกันตาย 3 สเต็ปสร้างประโยคจาก Verb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Sarabun"/>
              </a:defRPr>
            </a:pPr>
            <a:r>
              <a:t>เมื่อโจทย์ให้ Verb มาคำเดียว แล้วคิดไม่ออก ให้จำ 3 สเต็ปนี้: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0284C7"/>
                </a:solidFill>
                <a:latin typeface="Outfit"/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1600" b="1">
                <a:solidFill>
                  <a:srgbClr val="1E3A8A"/>
                </a:solidFill>
                <a:latin typeface="Sarabun"/>
              </a:defRPr>
            </a:pPr>
            <a:r>
              <a:t>ผันเป็น V.2 ให้ถูก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เปลี่ยนรูป หรือเติม -ed ทันที</a:t>
            </a:r>
          </a:p>
          <a:p>
            <a:pPr>
              <a:spcBef>
                <a:spcPts val="1600"/>
              </a:spcBef>
              <a:defRPr sz="1400" b="1">
                <a:solidFill>
                  <a:srgbClr val="0284C7"/>
                </a:solidFill>
                <a:latin typeface="Sarabun"/>
              </a:defRPr>
            </a:pPr>
            <a:r>
              <a:t>ตัวอย่าง:</a:t>
            </a:r>
            <a:br/>
            <a:r>
              <a:t>eat → 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3750" y="2011680"/>
            <a:ext cx="33832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0284C7"/>
                </a:solidFill>
                <a:latin typeface="Outfit"/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1600" b="1">
                <a:solidFill>
                  <a:srgbClr val="1E3A8A"/>
                </a:solidFill>
                <a:latin typeface="Sarabun"/>
              </a:defRPr>
            </a:pPr>
            <a:r>
              <a:t>เติมนามสั้นๆ 1 ตัว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ทำอะไร? หรือไปที่ไหน?</a:t>
            </a:r>
          </a:p>
          <a:p>
            <a:pPr>
              <a:spcBef>
                <a:spcPts val="1600"/>
              </a:spcBef>
              <a:defRPr sz="1400" b="1">
                <a:solidFill>
                  <a:srgbClr val="0284C7"/>
                </a:solidFill>
                <a:latin typeface="Sarabun"/>
              </a:defRPr>
            </a:pPr>
            <a:r>
              <a:t>ตัวอย่าง:</a:t>
            </a:r>
            <a:br/>
            <a:r>
              <a:t>กินอะไร? → noodles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5980" y="2011680"/>
            <a:ext cx="33832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16A34A"/>
                </a:solidFill>
                <a:latin typeface="Outfit"/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1600" b="1">
                <a:solidFill>
                  <a:srgbClr val="1E3A8A"/>
                </a:solidFill>
                <a:latin typeface="Sarabun"/>
              </a:defRPr>
            </a:pPr>
            <a:r>
              <a:t>ประกอบร่างเข้าสูตร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I + [V.2] + [กรรม] + yesterday.</a:t>
            </a:r>
          </a:p>
          <a:p>
            <a:pPr>
              <a:spcBef>
                <a:spcPts val="1600"/>
              </a:spcBef>
              <a:defRPr sz="1400" b="1">
                <a:solidFill>
                  <a:srgbClr val="16A34A"/>
                </a:solidFill>
                <a:latin typeface="Sarabun"/>
              </a:defRPr>
            </a:pPr>
            <a:r>
              <a:t>ตัวอย่าง:</a:t>
            </a:r>
            <a:br/>
            <a:r>
              <a:t>I ate noodles yesterday.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728655" cy="77724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5803D"/>
                </a:solidFill>
                <a:latin typeface="Sarabun"/>
              </a:defRPr>
            </a:pPr>
            <a:r>
              <a:t>💡 คลังคำนามช่วยชีวิต: noodles, milk, pizza, my room, YouTube, football, to school, a cat, a movie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UNIT 5 &amp; 6 FOCUS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Adjectives: ลงท้าย -ed VS -ing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16A34A"/>
                </a:solidFill>
                <a:latin typeface="Sarabun"/>
              </a:defRPr>
            </a:pPr>
            <a:r>
              <a:t>😊 ลงท้ายด้วย -ed = "รู้สึก..."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Sarabun"/>
              </a:defRPr>
            </a:pPr>
            <a:r>
              <a:t>ใช้อธิบาย ความรู้สึกของคนหรือสัตว์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  <a:latin typeface="Sarabun"/>
              </a:defRPr>
            </a:pPr>
            <a:r>
              <a:t>• bored = รู้สึกเบื่อ</a:t>
            </a:r>
            <a:br/>
            <a:r>
              <a:t>• interested = รู้สึกสนใจ</a:t>
            </a:r>
            <a:br/>
            <a:r>
              <a:t>• relaxed = รู้สึกผ่อนคลาย</a:t>
            </a:r>
            <a:br/>
            <a:r>
              <a:t>• annoyed = รู้สึกหงุดหงิด/รำคาญ</a:t>
            </a:r>
          </a:p>
          <a:p>
            <a:pPr>
              <a:spcBef>
                <a:spcPts val="1600"/>
              </a:spcBef>
              <a:defRPr sz="1400" b="1">
                <a:solidFill>
                  <a:srgbClr val="16A34A"/>
                </a:solidFill>
                <a:latin typeface="Sarabun"/>
              </a:defRPr>
            </a:pPr>
            <a:r>
              <a:t>ตัวอย่าง:</a:t>
            </a:r>
            <a:br/>
            <a:r>
              <a:t>"I was bored during the lesson."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645920"/>
            <a:ext cx="5212080" cy="466344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DC2626"/>
                </a:solidFill>
                <a:latin typeface="Sarabun"/>
              </a:defRPr>
            </a:pPr>
            <a:r>
              <a:t>🎬 ลงท้ายด้วย -ing = "น่า..."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Sarabun"/>
              </a:defRPr>
            </a:pPr>
            <a:r>
              <a:t>ใช้อธิบาย ลักษณะของสิ่งของ หนัง หรือเหตุการณ์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  <a:latin typeface="Sarabun"/>
              </a:defRPr>
            </a:pPr>
            <a:r>
              <a:t>• boring = น่าเบื่อ</a:t>
            </a:r>
            <a:br/>
            <a:r>
              <a:t>• interesting = น่าสนใจ</a:t>
            </a:r>
            <a:br/>
            <a:r>
              <a:t>• relaxing = น่าผ่อนคลาย</a:t>
            </a:r>
            <a:br/>
            <a:r>
              <a:t>• annoying = น่ารำคาญ</a:t>
            </a:r>
          </a:p>
          <a:p>
            <a:pPr>
              <a:spcBef>
                <a:spcPts val="1600"/>
              </a:spcBef>
              <a:defRPr sz="1400" b="1">
                <a:solidFill>
                  <a:srgbClr val="DC2626"/>
                </a:solidFill>
                <a:latin typeface="Sarabun"/>
              </a:defRPr>
            </a:pPr>
            <a:r>
              <a:t>ตัวอย่าง:</a:t>
            </a:r>
            <a:br/>
            <a:r>
              <a:t>"That movie was really boring."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EXAM DIAGNOSTICS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3 จุดหลอกยอดฮิตที่เด็ก ม.2 ชอบเสียคะแนน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1E3A8A"/>
                </a:solidFill>
                <a:latin typeface="Sarabun"/>
              </a:defRPr>
            </a:pPr>
            <a:r>
              <a:t>1. สะกดคำผิดเมื่อเติม -ed กับตัว y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ถ้าหน้า y เป็นพยัญชนะ เปลี่ยน y → i + ed เช่น studied (ไม่ใช่ studyed ❌)</a:t>
            </a:r>
            <a:br/>
            <a:r>
              <a:t>• ถ้าหน้า y เป็นสระ เติม -ed ได้เลย เช่น played (ไม่ใช่ plaied 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1E3A8A"/>
                </a:solidFill>
                <a:latin typeface="Sarabun"/>
              </a:defRPr>
            </a:pPr>
            <a:r>
              <a:t>2. คำบอกเวลากลางคืน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ภาษาอังกฤษใช้ last night เท่านั้น</a:t>
            </a:r>
            <a:br/>
            <a:r>
              <a:t>• ห้ามใช้คำว่า yesterday night ❌ โดยเด็ดขาด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1E3A8A"/>
                </a:solidFill>
                <a:latin typeface="Sarabun"/>
              </a:defRPr>
            </a:pPr>
            <a:r>
              <a:t>3. การแสดงความเป็นเจ้าของ Double Genitive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โครงสร้าง a friend of + mine / yours / his / hers / name's</a:t>
            </a:r>
            <a:br/>
            <a:r>
              <a:t>• ตัวอย่าง: a friend of mine (ไม่ใช่ a friend of me 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3790" y="1463040"/>
            <a:ext cx="2743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Outfit"/>
              </a:defRPr>
            </a:pPr>
            <a:r>
              <a:t>GREAT JOB!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Sarabun"/>
              </a:defRPr>
            </a:pPr>
            <a:r>
              <a:t>พร้อมลุยทำแบบฝึกหัดแล้ว!</a:t>
            </a:r>
          </a:p>
          <a:p>
            <a:pPr algn="ctr">
              <a:spcBef>
                <a:spcPts val="1800"/>
              </a:spcBef>
              <a:defRPr sz="1800">
                <a:solidFill>
                  <a:srgbClr val="CCFBF1"/>
                </a:solidFill>
                <a:latin typeface="Sarabun"/>
              </a:defRPr>
            </a:pPr>
            <a:r>
              <a:t>"ฝึกฝนสม่ำเสมอ จับตาดู Did/didn't และจำรูปกริยาให้แม่น แล้วลูกจะทำข้อสอบได้อย่างมั่นใจแน่นอน"</a:t>
            </a:r>
          </a:p>
          <a:p>
            <a:pPr algn="ctr">
              <a:spcBef>
                <a:spcPts val="1400"/>
              </a:spcBef>
              <a:defRPr sz="1500">
                <a:solidFill>
                  <a:srgbClr val="99F6E4"/>
                </a:solidFill>
                <a:latin typeface="Sarabun"/>
              </a:defRPr>
            </a:pPr>
            <a:r>
              <a:t>คุณพ่อสามารถเปิดหน้าแบบฝึกหัดให้น้องเริ่มทำต่อได้เลยครับ 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