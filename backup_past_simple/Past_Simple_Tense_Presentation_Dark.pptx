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6590" y="1463040"/>
            <a:ext cx="36576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utfit"/>
              </a:defRPr>
            </a:pPr>
            <a:r>
              <a:t>ENGLISH GRAMMAR • GRADE 8 (ม.2)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  <a:latin typeface="Outfit"/>
              </a:defRPr>
            </a:pPr>
            <a:r>
              <a:t>Past Simple Tense</a:t>
            </a:r>
          </a:p>
          <a:p>
            <a:pPr algn="ctr">
              <a:spcBef>
                <a:spcPts val="1800"/>
              </a:spcBef>
              <a:defRPr sz="2000">
                <a:solidFill>
                  <a:srgbClr val="E0F2FE"/>
                </a:solidFill>
                <a:latin typeface="Sarabun"/>
              </a:defRPr>
            </a:pPr>
            <a:r>
              <a:t>สรุปหลักไวยากรณ์ กฎการสร้างประโยค และเทคนิคจำแม่นเพื่อการสื่อสารและทำข้อสอบ</a:t>
            </a:r>
          </a:p>
          <a:p>
            <a:pPr algn="ctr">
              <a:spcBef>
                <a:spcPts val="1400"/>
              </a:spcBef>
              <a:defRPr sz="1500">
                <a:solidFill>
                  <a:srgbClr val="BAE6FD"/>
                </a:solidFill>
                <a:latin typeface="Sarabun"/>
              </a:defRPr>
            </a:pPr>
            <a:r>
              <a:t>ฉบับคู่มือการสอนติวเข้มสำหรับลูก (Unit 5 &amp; Unit 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Outfit"/>
              </a:defRPr>
            </a:pPr>
            <a:r>
              <a:t>CORE CONCEPT</a:t>
            </a:r>
          </a:p>
          <a:p>
            <a:pPr>
              <a:spcBef>
                <a:spcPts val="200"/>
              </a:spcBef>
              <a:defRPr sz="2400" b="1">
                <a:solidFill>
                  <a:srgbClr val="38BDF8"/>
                </a:solidFill>
                <a:latin typeface="Sarabun"/>
              </a:defRPr>
            </a:pPr>
            <a:r>
              <a:t>หัวใจหลักของ Past Simple Tense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Outfit"/>
              </a:defRPr>
            </a:pPr>
            <a:r>
              <a:t>Slide 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60A5FA"/>
                </a:solidFill>
                <a:latin typeface="Sarabun"/>
              </a:defRPr>
            </a:pPr>
            <a:r>
              <a:t>💡 ใช้เมื่อไหร่?</a:t>
            </a:r>
          </a:p>
          <a:p>
            <a:pPr>
              <a:spcBef>
                <a:spcPts val="600"/>
              </a:spcBef>
              <a:defRPr sz="1500">
                <a:solidFill>
                  <a:srgbClr val="F1F5F9"/>
                </a:solidFill>
                <a:latin typeface="Sarabun"/>
              </a:defRPr>
            </a:pPr>
            <a:r>
              <a:t>ใช้กับเหตุการณ์หรือการกระทำที่ "เกิดขึ้นและจบสิ้นลงอย่างสมบูรณ์แล้วในอดีต" (ปัจจุบันไม่ได้ทำแล้ว)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0A5FA"/>
                </a:solidFill>
                <a:latin typeface="Sarabun"/>
              </a:defRPr>
            </a:pPr>
            <a:r>
              <a:t>⏰ คำบอกเวลาที่พบบ่อย (Past Time Expressions)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2542032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38BDF8"/>
                </a:solidFill>
                <a:latin typeface="Outfit"/>
              </a:defRPr>
            </a:pPr>
            <a:r>
              <a:t>yesterday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arabun"/>
              </a:defRPr>
            </a:pPr>
            <a:r>
              <a:t>เมื่อวานนี้</a:t>
            </a:r>
            <a:br/>
            <a:r>
              <a:t>(yesterday morning, yesterday afternoon)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749039"/>
            <a:ext cx="2542032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38BDF8"/>
                </a:solidFill>
                <a:latin typeface="Outfit"/>
              </a:defRPr>
            </a:pPr>
            <a:r>
              <a:t>last + เวลา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arabun"/>
              </a:defRPr>
            </a:pPr>
            <a:r>
              <a:t>...ที่แล้ว</a:t>
            </a:r>
            <a:br/>
            <a:r>
              <a:t>(last night, last week, last month, last year)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749039"/>
            <a:ext cx="2542032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38BDF8"/>
                </a:solidFill>
                <a:latin typeface="Outfit"/>
              </a:defRPr>
            </a:pPr>
            <a:r>
              <a:t>ช่วงเวลา + ago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arabun"/>
              </a:defRPr>
            </a:pPr>
            <a:r>
              <a:t>...ที่ผ่านมา</a:t>
            </a:r>
            <a:br/>
            <a:r>
              <a:t>(two hours ago, three days ago, a year ago)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3749039"/>
            <a:ext cx="2542032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38BDF8"/>
                </a:solidFill>
                <a:latin typeface="Outfit"/>
              </a:defRPr>
            </a:pPr>
            <a:r>
              <a:t>in + ปีอดีต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arabun"/>
              </a:defRPr>
            </a:pPr>
            <a:r>
              <a:t>ในปี...</a:t>
            </a:r>
            <a:br/>
            <a:r>
              <a:t>(in 2020, in the past, when I was young)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Outfit"/>
              </a:defRPr>
            </a:pPr>
            <a:r>
              <a:t>GRAMMAR RULES</a:t>
            </a:r>
          </a:p>
          <a:p>
            <a:pPr>
              <a:spcBef>
                <a:spcPts val="200"/>
              </a:spcBef>
              <a:defRPr sz="2400" b="1">
                <a:solidFill>
                  <a:srgbClr val="38BDF8"/>
                </a:solidFill>
                <a:latin typeface="Sarabun"/>
              </a:defRPr>
            </a:pPr>
            <a:r>
              <a:t>โครงสร้างประโยค 3 รูปแบบ (+, -, 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Outfit"/>
              </a:defRPr>
            </a:pPr>
            <a:r>
              <a:t>Slide 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4ADE80"/>
                </a:solidFill>
                <a:latin typeface="Sarabun"/>
              </a:defRPr>
            </a:pPr>
            <a:r>
              <a:t>1. บอกเล่า (+)</a:t>
            </a:r>
          </a:p>
          <a:p>
            <a:pPr>
              <a:spcBef>
                <a:spcPts val="1200"/>
              </a:spcBef>
              <a:defRPr sz="1600" b="1">
                <a:solidFill>
                  <a:srgbClr val="4ADE80"/>
                </a:solidFill>
                <a:latin typeface="Outfit"/>
              </a:defRPr>
            </a:pPr>
            <a:r>
              <a:t>  Subject + V.2  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Sarabun"/>
              </a:defRPr>
            </a:pPr>
            <a:r>
              <a:t>ใช้กริยาช่องที่ 2 เสมอ</a:t>
            </a:r>
          </a:p>
          <a:p>
            <a:pPr>
              <a:spcBef>
                <a:spcPts val="1600"/>
              </a:spcBef>
              <a:defRPr sz="1300" b="1">
                <a:solidFill>
                  <a:srgbClr val="F1F5F9"/>
                </a:solidFill>
                <a:latin typeface="Sarabun"/>
              </a:defRPr>
            </a:pPr>
            <a:r>
              <a:t>ตัวอย่าง: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  <a:latin typeface="Sarabun"/>
              </a:defRPr>
            </a:pPr>
            <a:r>
              <a:t>• We played football yesterday.</a:t>
            </a:r>
            <a:br/>
            <a:r>
              <a:t>• He went to Japan last year.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3750" y="1645920"/>
            <a:ext cx="33832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F87171"/>
                </a:solidFill>
                <a:latin typeface="Sarabun"/>
              </a:defRPr>
            </a:pPr>
            <a:r>
              <a:t>2. ปฏิเสธ (-)</a:t>
            </a:r>
          </a:p>
          <a:p>
            <a:pPr>
              <a:spcBef>
                <a:spcPts val="1200"/>
              </a:spcBef>
              <a:defRPr sz="1600" b="1">
                <a:solidFill>
                  <a:srgbClr val="F87171"/>
                </a:solidFill>
                <a:latin typeface="Outfit"/>
              </a:defRPr>
            </a:pPr>
            <a:r>
              <a:t>  S + didn't + V.inf  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Sarabun"/>
              </a:defRPr>
            </a:pPr>
            <a:r>
              <a:t>ใช้ didn't แล้วคืนรูปกริยาเดิม</a:t>
            </a:r>
          </a:p>
          <a:p>
            <a:pPr>
              <a:spcBef>
                <a:spcPts val="1600"/>
              </a:spcBef>
              <a:defRPr sz="1300" b="1">
                <a:solidFill>
                  <a:srgbClr val="F1F5F9"/>
                </a:solidFill>
                <a:latin typeface="Sarabun"/>
              </a:defRPr>
            </a:pPr>
            <a:r>
              <a:t>ตัวอย่าง: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  <a:latin typeface="Sarabun"/>
              </a:defRPr>
            </a:pPr>
            <a:r>
              <a:t>• We didn't play football.</a:t>
            </a:r>
            <a:br/>
            <a:r>
              <a:t>• He didn't go to Japan.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5980" y="1645920"/>
            <a:ext cx="33832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38BDF8"/>
                </a:solidFill>
                <a:latin typeface="Sarabun"/>
              </a:defRPr>
            </a:pPr>
            <a:r>
              <a:t>3. คำถาม (?)</a:t>
            </a:r>
          </a:p>
          <a:p>
            <a:pPr>
              <a:spcBef>
                <a:spcPts val="1200"/>
              </a:spcBef>
              <a:defRPr sz="1600" b="1">
                <a:solidFill>
                  <a:srgbClr val="38BDF8"/>
                </a:solidFill>
                <a:latin typeface="Outfit"/>
              </a:defRPr>
            </a:pPr>
            <a:r>
              <a:t>  Did + S + V.inf ...?  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Sarabun"/>
              </a:defRPr>
            </a:pPr>
            <a:r>
              <a:t>เอา Did ขึ้นหน้า กริยาใช้รูปเดิม</a:t>
            </a:r>
          </a:p>
          <a:p>
            <a:pPr>
              <a:spcBef>
                <a:spcPts val="1600"/>
              </a:spcBef>
              <a:defRPr sz="1300" b="1">
                <a:solidFill>
                  <a:srgbClr val="F1F5F9"/>
                </a:solidFill>
                <a:latin typeface="Sarabun"/>
              </a:defRPr>
            </a:pPr>
            <a:r>
              <a:t>ตัวอย่าง: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  <a:latin typeface="Sarabun"/>
              </a:defRPr>
            </a:pPr>
            <a:r>
              <a:t>• Did they play football?</a:t>
            </a:r>
            <a:br/>
            <a:r>
              <a:t>• Did he go to Japan?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Outfit"/>
              </a:defRPr>
            </a:pPr>
            <a:r>
              <a:t>REGULAR VERBS</a:t>
            </a:r>
          </a:p>
          <a:p>
            <a:pPr>
              <a:spcBef>
                <a:spcPts val="200"/>
              </a:spcBef>
              <a:defRPr sz="2400" b="1">
                <a:solidFill>
                  <a:srgbClr val="38BDF8"/>
                </a:solidFill>
                <a:latin typeface="Sarabun"/>
              </a:defRPr>
            </a:pPr>
            <a:r>
              <a:t>กฎ 5 ข้อของการเติม -ed (Regular Verbs)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Outfit"/>
              </a:defRPr>
            </a:pPr>
            <a:r>
              <a:t>Slide 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3230575"/>
              </a:tblGrid>
              <a:tr h="762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กฎการเติม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คำอธิบาย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ตัวอย่าง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1. เติม -ed ทั่วไป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กริยาส่วนใหญ่เติม -ed ได้ทันที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watch → watched</a:t>
                      </a:r>
                      <a:br/>
                      <a:r>
                        <a:t>clean → cleaned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2. ลงท้ายด้วย 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เติมเพียง -d ท้ายคำได้เลย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live → lived</a:t>
                      </a:r>
                      <a:br/>
                      <a:r>
                        <a:t>arrive → arrived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3. พยัญชนะ + 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เปลี่ยน y เป็น i แล้วเติม -ed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study → studied</a:t>
                      </a:r>
                      <a:br/>
                      <a:r>
                        <a:t>tidy → tidied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4. สระ + 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เติม -ed ได้ทันที (ห้ามเปลี่ยนรูป)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play → played</a:t>
                      </a:r>
                      <a:br/>
                      <a:r>
                        <a:t>stay → stayed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5. 1 สระ + 1 ตัวสะกด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เบิ้ลตัวสะกดท้ายอีก 1 ตัวก่อนเติม -ed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stop → stopped</a:t>
                      </a:r>
                      <a:br/>
                      <a:r>
                        <a:t>plan → planned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Outfit"/>
              </a:defRPr>
            </a:pPr>
            <a:r>
              <a:t>IRREGULAR VERBS</a:t>
            </a:r>
          </a:p>
          <a:p>
            <a:pPr>
              <a:spcBef>
                <a:spcPts val="200"/>
              </a:spcBef>
              <a:defRPr sz="2400" b="1">
                <a:solidFill>
                  <a:srgbClr val="38BDF8"/>
                </a:solidFill>
                <a:latin typeface="Sarabun"/>
              </a:defRPr>
            </a:pPr>
            <a:r>
              <a:t>กริยาเปลี่ยนรูปยอดฮิต (ต้องจำให้แม่น)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Outfit"/>
              </a:defRPr>
            </a:pPr>
            <a:r>
              <a:t>Slide 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5212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Base (V.1)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Past (V.2)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ความหมาย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eat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Sarabun"/>
                        </a:defRPr>
                      </a:pPr>
                      <a:r>
                        <a:t>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กิน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Sarabun"/>
                        </a:defRPr>
                      </a:pPr>
                      <a:r>
                        <a:t>bought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ซื้อ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go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Sarabun"/>
                        </a:defRPr>
                      </a:pPr>
                      <a:r>
                        <a:t>went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ไป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see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Sarabun"/>
                        </a:defRPr>
                      </a:pPr>
                      <a:r>
                        <a:t>saw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เห็น / พบ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Sarabun"/>
                        </a:defRPr>
                      </a:pPr>
                      <a:r>
                        <a:t>had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มี / รับประทาน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645920"/>
          <a:ext cx="5212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Base (V.1)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Past (V.2)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ความหมาย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make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Sarabun"/>
                        </a:defRPr>
                      </a:pPr>
                      <a:r>
                        <a:t>made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ทำ / สร้าง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lose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Sarabun"/>
                        </a:defRPr>
                      </a:pPr>
                      <a:r>
                        <a:t>lost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ทำหาย / แพ้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read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Sarabun"/>
                        </a:defRPr>
                      </a:pPr>
                      <a:r>
                        <a:t>read (เรด)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อ่าน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write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Sarabun"/>
                        </a:defRPr>
                      </a:pPr>
                      <a:r>
                        <a:t>wrote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เขียน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drink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Sarabun"/>
                        </a:defRPr>
                      </a:pPr>
                      <a:r>
                        <a:t>drank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Sarabun"/>
                        </a:defRPr>
                      </a:pPr>
                      <a:r>
                        <a:t>ดื่ม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Outfit"/>
              </a:defRPr>
            </a:pPr>
            <a:r>
              <a:t>COMMON TRAP</a:t>
            </a:r>
          </a:p>
          <a:p>
            <a:pPr>
              <a:spcBef>
                <a:spcPts val="200"/>
              </a:spcBef>
              <a:defRPr sz="2400" b="1">
                <a:solidFill>
                  <a:srgbClr val="38BDF8"/>
                </a:solidFill>
                <a:latin typeface="Sarabun"/>
              </a:defRPr>
            </a:pPr>
            <a:r>
              <a:t>⚠️ กฎทอง "ถอดเครื่องแบบ" (จุดตายของข้อสอบ)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Outfit"/>
              </a:defRPr>
            </a:pPr>
            <a:r>
              <a:t>Slide 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463040"/>
          </a:xfrm>
          <a:prstGeom prst="roundRect">
            <a:avLst/>
          </a:prstGeom>
          <a:solidFill>
            <a:srgbClr val="451A03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FCD34D"/>
                </a:solidFill>
                <a:latin typeface="Sarabun"/>
              </a:defRPr>
            </a:pPr>
            <a:r>
              <a:t>เมื่อไหร่ที่มี Did หรือ didn't โผล่เข้ามาในประโยค...</a:t>
            </a:r>
          </a:p>
          <a:p>
            <a:pPr>
              <a:spcBef>
                <a:spcPts val="600"/>
              </a:spcBef>
              <a:defRPr sz="1500" b="1">
                <a:solidFill>
                  <a:srgbClr val="FCD34D"/>
                </a:solidFill>
                <a:latin typeface="Sarabun"/>
              </a:defRPr>
            </a:pPr>
            <a:r>
              <a:t>กริยาแท้ต้องถูก "ถอดรูปอดีตทิ้ง" แล้วกลับไปเป็น กริยาช่อง 1 ตัวเดิม (Base Form / V.inf) เสมอ!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212080" cy="2926080"/>
          </a:xfrm>
          <a:prstGeom prst="roundRect">
            <a:avLst/>
          </a:prstGeom>
          <a:solidFill>
            <a:srgbClr val="450A0A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700" b="1">
                <a:solidFill>
                  <a:srgbClr val="F87171"/>
                </a:solidFill>
                <a:latin typeface="Sarabun"/>
              </a:defRPr>
            </a:pPr>
            <a:r>
              <a:t>❌ สิ่งที่เด็กๆ ชอบผิด</a:t>
            </a:r>
          </a:p>
          <a:p>
            <a:pPr>
              <a:spcBef>
                <a:spcPts val="1400"/>
              </a:spcBef>
              <a:defRPr sz="1500">
                <a:solidFill>
                  <a:srgbClr val="F1F5F9"/>
                </a:solidFill>
                <a:latin typeface="Sarabun"/>
              </a:defRPr>
            </a:pPr>
            <a:r>
              <a:t>• He didn't went to school. ❌</a:t>
            </a:r>
            <a:br/>
            <a:r>
              <a:t>• Did you saw that cat? ❌</a:t>
            </a:r>
            <a:br/>
            <a:r>
              <a:t>• We didn't watched TV. 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3383280"/>
            <a:ext cx="5212080" cy="2926080"/>
          </a:xfrm>
          <a:prstGeom prst="roundRect">
            <a:avLst/>
          </a:prstGeom>
          <a:solidFill>
            <a:srgbClr val="064E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700" b="1">
                <a:solidFill>
                  <a:srgbClr val="4ADE80"/>
                </a:solidFill>
                <a:latin typeface="Sarabun"/>
              </a:defRPr>
            </a:pPr>
            <a:r>
              <a:t>✔️ ประโยคที่ถูกต้อง</a:t>
            </a:r>
          </a:p>
          <a:p>
            <a:pPr>
              <a:spcBef>
                <a:spcPts val="1400"/>
              </a:spcBef>
              <a:defRPr sz="1500">
                <a:solidFill>
                  <a:srgbClr val="F1F5F9"/>
                </a:solidFill>
                <a:latin typeface="Sarabun"/>
              </a:defRPr>
            </a:pPr>
            <a:r>
              <a:t>• He didn't go to school. ✔️</a:t>
            </a:r>
            <a:br/>
            <a:r>
              <a:t>• Did you see that cat? ✔️</a:t>
            </a:r>
            <a:br/>
            <a:r>
              <a:t>• We didn't watch TV. ✔️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Outfit"/>
              </a:defRPr>
            </a:pPr>
            <a:r>
              <a:t>SKILL BUILDING</a:t>
            </a:r>
          </a:p>
          <a:p>
            <a:pPr>
              <a:spcBef>
                <a:spcPts val="200"/>
              </a:spcBef>
              <a:defRPr sz="2400" b="1">
                <a:solidFill>
                  <a:srgbClr val="38BDF8"/>
                </a:solidFill>
                <a:latin typeface="Sarabun"/>
              </a:defRPr>
            </a:pPr>
            <a:r>
              <a:t>สูตรกันตาย 3 สเต็ปสร้างประโยคจาก Verb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Outfit"/>
              </a:defRPr>
            </a:pPr>
            <a:r>
              <a:t>Slide 7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1F5F9"/>
                </a:solidFill>
                <a:latin typeface="Sarabun"/>
              </a:defRPr>
            </a:pPr>
            <a:r>
              <a:t>เมื่อโจทย์ให้ Verb มาคำเดียว แล้วคิดไม่ออก ให้จำ 3 สเต็ปนี้: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000" b="1">
                <a:solidFill>
                  <a:srgbClr val="38BDF8"/>
                </a:solidFill>
                <a:latin typeface="Outfit"/>
              </a:defRPr>
            </a:pPr>
            <a:r>
              <a:t>Step 1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Sarabun"/>
              </a:defRPr>
            </a:pPr>
            <a:r>
              <a:t>ผันเป็น V.2 ให้ถูก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arabun"/>
              </a:defRPr>
            </a:pPr>
            <a:r>
              <a:t>เปลี่ยนรูป หรือเติม -ed ทันที</a:t>
            </a:r>
          </a:p>
          <a:p>
            <a:pPr>
              <a:spcBef>
                <a:spcPts val="1600"/>
              </a:spcBef>
              <a:defRPr sz="1400" b="1">
                <a:solidFill>
                  <a:srgbClr val="38BDF8"/>
                </a:solidFill>
                <a:latin typeface="Sarabun"/>
              </a:defRPr>
            </a:pPr>
            <a:r>
              <a:t>ตัวอย่าง:</a:t>
            </a:r>
            <a:br/>
            <a:r>
              <a:t>eat → 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3750" y="2011680"/>
            <a:ext cx="338328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000" b="1">
                <a:solidFill>
                  <a:srgbClr val="38BDF8"/>
                </a:solidFill>
                <a:latin typeface="Outfit"/>
              </a:defRPr>
            </a:pPr>
            <a:r>
              <a:t>Step 2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Sarabun"/>
              </a:defRPr>
            </a:pPr>
            <a:r>
              <a:t>เติมนามสั้นๆ 1 ตัว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arabun"/>
              </a:defRPr>
            </a:pPr>
            <a:r>
              <a:t>ทำอะไร? หรือไปที่ไหน?</a:t>
            </a:r>
          </a:p>
          <a:p>
            <a:pPr>
              <a:spcBef>
                <a:spcPts val="1600"/>
              </a:spcBef>
              <a:defRPr sz="1400" b="1">
                <a:solidFill>
                  <a:srgbClr val="38BDF8"/>
                </a:solidFill>
                <a:latin typeface="Sarabun"/>
              </a:defRPr>
            </a:pPr>
            <a:r>
              <a:t>ตัวอย่าง:</a:t>
            </a:r>
            <a:br/>
            <a:r>
              <a:t>กินอะไร? → noodles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5980" y="2011680"/>
            <a:ext cx="338328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000" b="1">
                <a:solidFill>
                  <a:srgbClr val="4ADE80"/>
                </a:solidFill>
                <a:latin typeface="Outfit"/>
              </a:defRPr>
            </a:pPr>
            <a:r>
              <a:t>Step 3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Sarabun"/>
              </a:defRPr>
            </a:pPr>
            <a:r>
              <a:t>ประกอบร่างเข้าสูตร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arabun"/>
              </a:defRPr>
            </a:pPr>
            <a:r>
              <a:t>I + [V.2] + [กรรม] + yesterday.</a:t>
            </a:r>
          </a:p>
          <a:p>
            <a:pPr>
              <a:spcBef>
                <a:spcPts val="1600"/>
              </a:spcBef>
              <a:defRPr sz="1400" b="1">
                <a:solidFill>
                  <a:srgbClr val="4ADE80"/>
                </a:solidFill>
                <a:latin typeface="Sarabun"/>
              </a:defRPr>
            </a:pPr>
            <a:r>
              <a:t>ตัวอย่าง:</a:t>
            </a:r>
            <a:br/>
            <a:r>
              <a:t>I ate noodles yesterday.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728655" cy="777240"/>
          </a:xfrm>
          <a:prstGeom prst="roundRect">
            <a:avLst/>
          </a:prstGeom>
          <a:solidFill>
            <a:srgbClr val="064E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ADE80"/>
                </a:solidFill>
                <a:latin typeface="Sarabun"/>
              </a:defRPr>
            </a:pPr>
            <a:r>
              <a:t>💡 คลังคำนามช่วยชีวิต: noodles, milk, pizza, my room, YouTube, football, to school, a cat, a movie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Outfit"/>
              </a:defRPr>
            </a:pPr>
            <a:r>
              <a:t>UNIT 5 &amp; 6 FOCUS</a:t>
            </a:r>
          </a:p>
          <a:p>
            <a:pPr>
              <a:spcBef>
                <a:spcPts val="200"/>
              </a:spcBef>
              <a:defRPr sz="2400" b="1">
                <a:solidFill>
                  <a:srgbClr val="38BDF8"/>
                </a:solidFill>
                <a:latin typeface="Sarabun"/>
              </a:defRPr>
            </a:pPr>
            <a:r>
              <a:t>Adjectives: ลงท้าย -ed VS -ing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Outfit"/>
              </a:defRPr>
            </a:pPr>
            <a:r>
              <a:t>Slide 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064E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4ADE80"/>
                </a:solidFill>
                <a:latin typeface="Sarabun"/>
              </a:defRPr>
            </a:pPr>
            <a:r>
              <a:t>😊 ลงท้ายด้วย -ed = "รู้สึก..."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Sarabun"/>
              </a:defRPr>
            </a:pPr>
            <a:r>
              <a:t>ใช้อธิบาย ความรู้สึกของคนหรือสัตว์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  <a:latin typeface="Sarabun"/>
              </a:defRPr>
            </a:pPr>
            <a:r>
              <a:t>• bored = รู้สึกเบื่อ</a:t>
            </a:r>
            <a:br/>
            <a:r>
              <a:t>• interested = รู้สึกสนใจ</a:t>
            </a:r>
            <a:br/>
            <a:r>
              <a:t>• relaxed = รู้สึกผ่อนคลาย</a:t>
            </a:r>
            <a:br/>
            <a:r>
              <a:t>• annoyed = รู้สึกหงุดหงิด/รำคาญ</a:t>
            </a:r>
          </a:p>
          <a:p>
            <a:pPr>
              <a:spcBef>
                <a:spcPts val="1600"/>
              </a:spcBef>
              <a:defRPr sz="1400" b="1">
                <a:solidFill>
                  <a:srgbClr val="4ADE80"/>
                </a:solidFill>
                <a:latin typeface="Sarabun"/>
              </a:defRPr>
            </a:pPr>
            <a:r>
              <a:t>ตัวอย่าง:</a:t>
            </a:r>
            <a:br/>
            <a:r>
              <a:t>"I was bored during the lesson."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645920"/>
            <a:ext cx="5212080" cy="4663440"/>
          </a:xfrm>
          <a:prstGeom prst="roundRect">
            <a:avLst/>
          </a:prstGeom>
          <a:solidFill>
            <a:srgbClr val="450A0A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F87171"/>
                </a:solidFill>
                <a:latin typeface="Sarabun"/>
              </a:defRPr>
            </a:pPr>
            <a:r>
              <a:t>🎬 ลงท้ายด้วย -ing = "น่า..."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  <a:latin typeface="Sarabun"/>
              </a:defRPr>
            </a:pPr>
            <a:r>
              <a:t>ใช้อธิบาย ลักษณะของสิ่งของ หนัง หรือเหตุการณ์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  <a:latin typeface="Sarabun"/>
              </a:defRPr>
            </a:pPr>
            <a:r>
              <a:t>• boring = น่าเบื่อ</a:t>
            </a:r>
            <a:br/>
            <a:r>
              <a:t>• interesting = น่าสนใจ</a:t>
            </a:r>
            <a:br/>
            <a:r>
              <a:t>• relaxing = น่าผ่อนคลาย</a:t>
            </a:r>
            <a:br/>
            <a:r>
              <a:t>• annoying = น่ารำคาญ</a:t>
            </a:r>
          </a:p>
          <a:p>
            <a:pPr>
              <a:spcBef>
                <a:spcPts val="1600"/>
              </a:spcBef>
              <a:defRPr sz="1400" b="1">
                <a:solidFill>
                  <a:srgbClr val="F87171"/>
                </a:solidFill>
                <a:latin typeface="Sarabun"/>
              </a:defRPr>
            </a:pPr>
            <a:r>
              <a:t>ตัวอย่าง:</a:t>
            </a:r>
            <a:br/>
            <a:r>
              <a:t>"That movie was really boring."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Outfit"/>
              </a:defRPr>
            </a:pPr>
            <a:r>
              <a:t>EXAM DIAGNOSTICS</a:t>
            </a:r>
          </a:p>
          <a:p>
            <a:pPr>
              <a:spcBef>
                <a:spcPts val="200"/>
              </a:spcBef>
              <a:defRPr sz="2400" b="1">
                <a:solidFill>
                  <a:srgbClr val="38BDF8"/>
                </a:solidFill>
                <a:latin typeface="Sarabun"/>
              </a:defRPr>
            </a:pPr>
            <a:r>
              <a:t>3 จุดหลอกยอดฮิตที่เด็ก ม.2 ชอบเสียคะแนน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Outfit"/>
              </a:defRPr>
            </a:pPr>
            <a:r>
              <a:t>Slide 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38BDF8"/>
                </a:solidFill>
                <a:latin typeface="Sarabun"/>
              </a:defRPr>
            </a:pPr>
            <a:r>
              <a:t>1. สะกดคำผิดเมื่อเติม -ed กับตัว y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  <a:latin typeface="Sarabun"/>
              </a:defRPr>
            </a:pPr>
            <a:r>
              <a:t>• ถ้าหน้า y เป็นพยัญชนะ เปลี่ยน y → i + ed เช่น studied (ไม่ใช่ studyed ❌)</a:t>
            </a:r>
            <a:br/>
            <a:r>
              <a:t>• ถ้าหน้า y เป็นสระ เติม -ed ได้เลย เช่น played (ไม่ใช่ plaied 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38BDF8"/>
                </a:solidFill>
                <a:latin typeface="Sarabun"/>
              </a:defRPr>
            </a:pPr>
            <a:r>
              <a:t>2. คำบอกเวลากลางคืน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  <a:latin typeface="Sarabun"/>
              </a:defRPr>
            </a:pPr>
            <a:r>
              <a:t>• ภาษาอังกฤษใช้ last night เท่านั้น</a:t>
            </a:r>
            <a:br/>
            <a:r>
              <a:t>• ห้ามใช้คำว่า yesterday night ❌ โดยเด็ดขาด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38BDF8"/>
                </a:solidFill>
                <a:latin typeface="Sarabun"/>
              </a:defRPr>
            </a:pPr>
            <a:r>
              <a:t>3. การแสดงความเป็นเจ้าของ Double Genitive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  <a:latin typeface="Sarabun"/>
              </a:defRPr>
            </a:pPr>
            <a:r>
              <a:t>• โครงสร้าง a friend of + mine / yours / his / hers / name's</a:t>
            </a:r>
            <a:br/>
            <a:r>
              <a:t>• ตัวอย่าง: a friend of mine (ไม่ใช่ a friend of me ❌)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23790" y="1463040"/>
            <a:ext cx="27432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Outfit"/>
              </a:defRPr>
            </a:pPr>
            <a:r>
              <a:t>GREAT JOB!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Sarabun"/>
              </a:defRPr>
            </a:pPr>
            <a:r>
              <a:t>พร้อมลุยทำแบบฝึกหัดแล้ว!</a:t>
            </a:r>
          </a:p>
          <a:p>
            <a:pPr algn="ctr">
              <a:spcBef>
                <a:spcPts val="1800"/>
              </a:spcBef>
              <a:defRPr sz="1800">
                <a:solidFill>
                  <a:srgbClr val="CCFBF1"/>
                </a:solidFill>
                <a:latin typeface="Sarabun"/>
              </a:defRPr>
            </a:pPr>
            <a:r>
              <a:t>"ฝึกฝนสม่ำเสมอ จับตาดู Did/didn't และจำรูปกริยาให้แม่น แล้วลูกจะทำข้อสอบได้อย่างมั่นใจแน่นอน"</a:t>
            </a:r>
          </a:p>
          <a:p>
            <a:pPr algn="ctr">
              <a:spcBef>
                <a:spcPts val="1400"/>
              </a:spcBef>
              <a:defRPr sz="1500">
                <a:solidFill>
                  <a:srgbClr val="99F6E4"/>
                </a:solidFill>
                <a:latin typeface="Sarabun"/>
              </a:defRPr>
            </a:pPr>
            <a:r>
              <a:t>คุณพ่อสามารถเปิดหน้าแบบฝึกหัดให้น้องเริ่มทำต่อได้เลยครับ 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